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D590C3-3237-4AB8-8A88-1BFD9F7FA6D4}" v="4" dt="2026-02-26T07:46:49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4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sh Sharma" userId="6d82ffe49ac5f4cb" providerId="LiveId" clId="{FB000D70-9708-4148-BB8F-AD9E6678ECA9}"/>
    <pc:docChg chg="undo custSel addSld delSld modSld sldOrd">
      <pc:chgData name="Vansh Sharma" userId="6d82ffe49ac5f4cb" providerId="LiveId" clId="{FB000D70-9708-4148-BB8F-AD9E6678ECA9}" dt="2026-02-26T09:41:32.255" v="275" actId="14100"/>
      <pc:docMkLst>
        <pc:docMk/>
      </pc:docMkLst>
      <pc:sldChg chg="modSp mod ord">
        <pc:chgData name="Vansh Sharma" userId="6d82ffe49ac5f4cb" providerId="LiveId" clId="{FB000D70-9708-4148-BB8F-AD9E6678ECA9}" dt="2026-02-26T06:48:57.431" v="116"/>
        <pc:sldMkLst>
          <pc:docMk/>
          <pc:sldMk cId="2796527689" sldId="260"/>
        </pc:sldMkLst>
        <pc:spChg chg="mod">
          <ac:chgData name="Vansh Sharma" userId="6d82ffe49ac5f4cb" providerId="LiveId" clId="{FB000D70-9708-4148-BB8F-AD9E6678ECA9}" dt="2026-02-26T06:38:50.989" v="84" actId="20577"/>
          <ac:spMkLst>
            <pc:docMk/>
            <pc:sldMk cId="2796527689" sldId="260"/>
            <ac:spMk id="6" creationId="{F582E1CB-B879-BC33-61A4-8CC2723E9DDB}"/>
          </ac:spMkLst>
        </pc:spChg>
      </pc:sldChg>
      <pc:sldChg chg="modSp mod">
        <pc:chgData name="Vansh Sharma" userId="6d82ffe49ac5f4cb" providerId="LiveId" clId="{FB000D70-9708-4148-BB8F-AD9E6678ECA9}" dt="2026-02-26T07:52:25.992" v="274" actId="115"/>
        <pc:sldMkLst>
          <pc:docMk/>
          <pc:sldMk cId="2433382226" sldId="261"/>
        </pc:sldMkLst>
        <pc:spChg chg="mod">
          <ac:chgData name="Vansh Sharma" userId="6d82ffe49ac5f4cb" providerId="LiveId" clId="{FB000D70-9708-4148-BB8F-AD9E6678ECA9}" dt="2026-02-26T07:52:25.992" v="274" actId="115"/>
          <ac:spMkLst>
            <pc:docMk/>
            <pc:sldMk cId="2433382226" sldId="261"/>
            <ac:spMk id="8" creationId="{11A655B4-598F-8FA0-FE78-FCF6E91EC0E8}"/>
          </ac:spMkLst>
        </pc:spChg>
      </pc:sldChg>
      <pc:sldChg chg="modSp mod">
        <pc:chgData name="Vansh Sharma" userId="6d82ffe49ac5f4cb" providerId="LiveId" clId="{FB000D70-9708-4148-BB8F-AD9E6678ECA9}" dt="2026-02-26T05:07:01.337" v="33" actId="20577"/>
        <pc:sldMkLst>
          <pc:docMk/>
          <pc:sldMk cId="2899902045" sldId="262"/>
        </pc:sldMkLst>
        <pc:spChg chg="mod">
          <ac:chgData name="Vansh Sharma" userId="6d82ffe49ac5f4cb" providerId="LiveId" clId="{FB000D70-9708-4148-BB8F-AD9E6678ECA9}" dt="2026-02-26T05:07:01.337" v="33" actId="20577"/>
          <ac:spMkLst>
            <pc:docMk/>
            <pc:sldMk cId="2899902045" sldId="262"/>
            <ac:spMk id="2" creationId="{1977BEA4-2917-4DA1-1E93-674CCF5CF564}"/>
          </ac:spMkLst>
        </pc:spChg>
      </pc:sldChg>
      <pc:sldChg chg="modSp mod">
        <pc:chgData name="Vansh Sharma" userId="6d82ffe49ac5f4cb" providerId="LiveId" clId="{FB000D70-9708-4148-BB8F-AD9E6678ECA9}" dt="2026-02-26T07:51:56.987" v="273" actId="5793"/>
        <pc:sldMkLst>
          <pc:docMk/>
          <pc:sldMk cId="968301658" sldId="263"/>
        </pc:sldMkLst>
        <pc:spChg chg="mod">
          <ac:chgData name="Vansh Sharma" userId="6d82ffe49ac5f4cb" providerId="LiveId" clId="{FB000D70-9708-4148-BB8F-AD9E6678ECA9}" dt="2026-02-26T05:30:14.140" v="42" actId="20577"/>
          <ac:spMkLst>
            <pc:docMk/>
            <pc:sldMk cId="968301658" sldId="263"/>
            <ac:spMk id="2" creationId="{F8C34EC9-1BD6-EAAB-BD80-8C0902E5FCFB}"/>
          </ac:spMkLst>
        </pc:spChg>
        <pc:spChg chg="mod">
          <ac:chgData name="Vansh Sharma" userId="6d82ffe49ac5f4cb" providerId="LiveId" clId="{FB000D70-9708-4148-BB8F-AD9E6678ECA9}" dt="2026-02-26T07:51:56.987" v="273" actId="5793"/>
          <ac:spMkLst>
            <pc:docMk/>
            <pc:sldMk cId="968301658" sldId="263"/>
            <ac:spMk id="8" creationId="{73570C1F-A025-A665-100D-41A50F231969}"/>
          </ac:spMkLst>
        </pc:spChg>
      </pc:sldChg>
      <pc:sldChg chg="modSp mod">
        <pc:chgData name="Vansh Sharma" userId="6d82ffe49ac5f4cb" providerId="LiveId" clId="{FB000D70-9708-4148-BB8F-AD9E6678ECA9}" dt="2026-02-26T09:41:32.255" v="275" actId="14100"/>
        <pc:sldMkLst>
          <pc:docMk/>
          <pc:sldMk cId="2701263956" sldId="264"/>
        </pc:sldMkLst>
        <pc:spChg chg="mod">
          <ac:chgData name="Vansh Sharma" userId="6d82ffe49ac5f4cb" providerId="LiveId" clId="{FB000D70-9708-4148-BB8F-AD9E6678ECA9}" dt="2026-02-26T05:30:37.581" v="48" actId="20577"/>
          <ac:spMkLst>
            <pc:docMk/>
            <pc:sldMk cId="2701263956" sldId="264"/>
            <ac:spMk id="2" creationId="{7CAAFEEB-B4E7-E4EB-FEFB-45D4674C62ED}"/>
          </ac:spMkLst>
        </pc:spChg>
        <pc:picChg chg="mod">
          <ac:chgData name="Vansh Sharma" userId="6d82ffe49ac5f4cb" providerId="LiveId" clId="{FB000D70-9708-4148-BB8F-AD9E6678ECA9}" dt="2026-02-26T09:41:32.255" v="275" actId="14100"/>
          <ac:picMkLst>
            <pc:docMk/>
            <pc:sldMk cId="2701263956" sldId="264"/>
            <ac:picMk id="9" creationId="{9107CC6B-697F-D31C-0EAB-0D3F318ACE6C}"/>
          </ac:picMkLst>
        </pc:picChg>
      </pc:sldChg>
      <pc:sldChg chg="modSp mod">
        <pc:chgData name="Vansh Sharma" userId="6d82ffe49ac5f4cb" providerId="LiveId" clId="{FB000D70-9708-4148-BB8F-AD9E6678ECA9}" dt="2026-02-26T05:07:18.491" v="37" actId="20577"/>
        <pc:sldMkLst>
          <pc:docMk/>
          <pc:sldMk cId="1980150904" sldId="265"/>
        </pc:sldMkLst>
        <pc:spChg chg="mod">
          <ac:chgData name="Vansh Sharma" userId="6d82ffe49ac5f4cb" providerId="LiveId" clId="{FB000D70-9708-4148-BB8F-AD9E6678ECA9}" dt="2026-02-26T05:07:18.491" v="37" actId="20577"/>
          <ac:spMkLst>
            <pc:docMk/>
            <pc:sldMk cId="1980150904" sldId="265"/>
            <ac:spMk id="2" creationId="{99E2E310-CBD3-5996-2087-71233FE62570}"/>
          </ac:spMkLst>
        </pc:spChg>
      </pc:sldChg>
      <pc:sldChg chg="modSp mod">
        <pc:chgData name="Vansh Sharma" userId="6d82ffe49ac5f4cb" providerId="LiveId" clId="{FB000D70-9708-4148-BB8F-AD9E6678ECA9}" dt="2026-02-26T05:07:27.984" v="40" actId="20577"/>
        <pc:sldMkLst>
          <pc:docMk/>
          <pc:sldMk cId="1773359747" sldId="266"/>
        </pc:sldMkLst>
        <pc:spChg chg="mod">
          <ac:chgData name="Vansh Sharma" userId="6d82ffe49ac5f4cb" providerId="LiveId" clId="{FB000D70-9708-4148-BB8F-AD9E6678ECA9}" dt="2026-02-26T05:07:27.984" v="40" actId="20577"/>
          <ac:spMkLst>
            <pc:docMk/>
            <pc:sldMk cId="1773359747" sldId="266"/>
            <ac:spMk id="2" creationId="{788837C4-9A09-4E0D-ABCE-5893C147BC51}"/>
          </ac:spMkLst>
        </pc:spChg>
      </pc:sldChg>
      <pc:sldChg chg="new del">
        <pc:chgData name="Vansh Sharma" userId="6d82ffe49ac5f4cb" providerId="LiveId" clId="{FB000D70-9708-4148-BB8F-AD9E6678ECA9}" dt="2026-02-26T05:05:59.579" v="1" actId="47"/>
        <pc:sldMkLst>
          <pc:docMk/>
          <pc:sldMk cId="1226108045" sldId="267"/>
        </pc:sldMkLst>
      </pc:sldChg>
      <pc:sldChg chg="addSp delSp modSp add mod ord">
        <pc:chgData name="Vansh Sharma" userId="6d82ffe49ac5f4cb" providerId="LiveId" clId="{FB000D70-9708-4148-BB8F-AD9E6678ECA9}" dt="2026-02-26T07:47:21.932" v="153" actId="20577"/>
        <pc:sldMkLst>
          <pc:docMk/>
          <pc:sldMk cId="3006861733" sldId="267"/>
        </pc:sldMkLst>
        <pc:spChg chg="mod">
          <ac:chgData name="Vansh Sharma" userId="6d82ffe49ac5f4cb" providerId="LiveId" clId="{FB000D70-9708-4148-BB8F-AD9E6678ECA9}" dt="2026-02-26T05:30:27.399" v="44" actId="20577"/>
          <ac:spMkLst>
            <pc:docMk/>
            <pc:sldMk cId="3006861733" sldId="267"/>
            <ac:spMk id="2" creationId="{D5FADA17-BCB8-4A37-F5F1-9EBB16C7527D}"/>
          </ac:spMkLst>
        </pc:spChg>
        <pc:spChg chg="mod">
          <ac:chgData name="Vansh Sharma" userId="6d82ffe49ac5f4cb" providerId="LiveId" clId="{FB000D70-9708-4148-BB8F-AD9E6678ECA9}" dt="2026-02-26T07:47:21.932" v="153" actId="20577"/>
          <ac:spMkLst>
            <pc:docMk/>
            <pc:sldMk cId="3006861733" sldId="267"/>
            <ac:spMk id="8" creationId="{A623BC7C-7B96-B842-CA57-5950371CC89B}"/>
          </ac:spMkLst>
        </pc:spChg>
        <pc:picChg chg="add del mod">
          <ac:chgData name="Vansh Sharma" userId="6d82ffe49ac5f4cb" providerId="LiveId" clId="{FB000D70-9708-4148-BB8F-AD9E6678ECA9}" dt="2026-02-26T05:31:53.890" v="58" actId="478"/>
          <ac:picMkLst>
            <pc:docMk/>
            <pc:sldMk cId="3006861733" sldId="267"/>
            <ac:picMk id="6" creationId="{CEF75EAD-13F3-A598-4136-802471BA33B4}"/>
          </ac:picMkLst>
        </pc:picChg>
        <pc:picChg chg="add del mod">
          <ac:chgData name="Vansh Sharma" userId="6d82ffe49ac5f4cb" providerId="LiveId" clId="{FB000D70-9708-4148-BB8F-AD9E6678ECA9}" dt="2026-02-26T05:31:53.890" v="58" actId="478"/>
          <ac:picMkLst>
            <pc:docMk/>
            <pc:sldMk cId="3006861733" sldId="267"/>
            <ac:picMk id="9" creationId="{F1F219A8-079A-2926-EDD8-D172B2F92F8A}"/>
          </ac:picMkLst>
        </pc:picChg>
        <pc:picChg chg="add mod">
          <ac:chgData name="Vansh Sharma" userId="6d82ffe49ac5f4cb" providerId="LiveId" clId="{FB000D70-9708-4148-BB8F-AD9E6678ECA9}" dt="2026-02-26T07:00:52.195" v="138" actId="14100"/>
          <ac:picMkLst>
            <pc:docMk/>
            <pc:sldMk cId="3006861733" sldId="267"/>
            <ac:picMk id="11" creationId="{B8B3ECDF-D68E-F8A3-EB2D-84BAD935A187}"/>
          </ac:picMkLst>
        </pc:picChg>
        <pc:picChg chg="add mod">
          <ac:chgData name="Vansh Sharma" userId="6d82ffe49ac5f4cb" providerId="LiveId" clId="{FB000D70-9708-4148-BB8F-AD9E6678ECA9}" dt="2026-02-26T06:59:44.664" v="125" actId="1076"/>
          <ac:picMkLst>
            <pc:docMk/>
            <pc:sldMk cId="3006861733" sldId="267"/>
            <ac:picMk id="13" creationId="{A555DE52-CD49-E9E9-9BC4-FB1783C88155}"/>
          </ac:picMkLst>
        </pc:picChg>
        <pc:picChg chg="add mod">
          <ac:chgData name="Vansh Sharma" userId="6d82ffe49ac5f4cb" providerId="LiveId" clId="{FB000D70-9708-4148-BB8F-AD9E6678ECA9}" dt="2026-02-26T07:00:35.599" v="135" actId="1440"/>
          <ac:picMkLst>
            <pc:docMk/>
            <pc:sldMk cId="3006861733" sldId="267"/>
            <ac:picMk id="15" creationId="{B0F3F57E-F0E2-D0F4-A2FF-C36E920967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p5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5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p5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2" name="Google Shape;142;p5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3" name="Google Shape;143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5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0" name="Google Shape;15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5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9" r:id="rId3"/>
    <p:sldLayoutId id="2147483670" r:id="rId4"/>
    <p:sldLayoutId id="2147483671" r:id="rId5"/>
    <p:sldLayoutId id="214748367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 txBox="1">
            <a:spLocks noGrp="1"/>
          </p:cNvSpPr>
          <p:nvPr>
            <p:ph type="ctrTitle"/>
          </p:nvPr>
        </p:nvSpPr>
        <p:spPr>
          <a:xfrm>
            <a:off x="264160" y="1176291"/>
            <a:ext cx="11663680" cy="1076526"/>
          </a:xfrm>
          <a:prstGeom prst="rect">
            <a:avLst/>
          </a:prstGeom>
          <a:solidFill>
            <a:srgbClr val="EDEDED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IN" sz="53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IN" sz="53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IN" sz="31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  <a:t>Practicum Presentation</a:t>
            </a:r>
            <a:br>
              <a:rPr lang="en-IN" sz="31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IN" sz="1800" b="0" i="0" u="none" strike="noStrike" baseline="0" dirty="0">
                <a:solidFill>
                  <a:srgbClr val="000000"/>
                </a:solidFill>
              </a:rPr>
            </a:br>
            <a:r>
              <a:rPr lang="en-IN" sz="18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en-IN" sz="1800" b="1" i="0" u="none" strike="noStrike" baseline="0" dirty="0" err="1">
                <a:solidFill>
                  <a:srgbClr val="000000"/>
                </a:solidFill>
              </a:rPr>
              <a:t>IIoT</a:t>
            </a:r>
            <a:r>
              <a:rPr lang="en-IN" sz="1800" b="1" i="0" u="none" strike="noStrike" baseline="0" dirty="0">
                <a:solidFill>
                  <a:srgbClr val="000000"/>
                </a:solidFill>
              </a:rPr>
              <a:t> 260 </a:t>
            </a:r>
            <a:endParaRPr sz="3100" b="1" dirty="0">
              <a:solidFill>
                <a:srgbClr val="00206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9DD3EE-0033-964D-F38E-5502B1844E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36" t="16197" r="7963" b="26713"/>
          <a:stretch/>
        </p:blipFill>
        <p:spPr>
          <a:xfrm>
            <a:off x="9132953" y="31008"/>
            <a:ext cx="2794887" cy="1076526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75FFEC59-BB09-CA2D-A7B4-3AC02A91B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9247" y="3941215"/>
            <a:ext cx="8712485" cy="217778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l"/>
            <a:r>
              <a:rPr lang="en-IN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Student’s Name: 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Anmol Nandwani, Vansh Sharma, Gauri Gupta</a:t>
            </a:r>
          </a:p>
          <a:p>
            <a:pPr algn="l"/>
            <a:r>
              <a:rPr lang="en-IN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7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No. : 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35117711724, 02717711724, 03417711724</a:t>
            </a:r>
          </a:p>
          <a:p>
            <a:pPr algn="l"/>
            <a:r>
              <a:rPr lang="en-IN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Branch&amp; Section: IIOT - A</a:t>
            </a:r>
          </a:p>
          <a:p>
            <a:pPr algn="l"/>
            <a:r>
              <a:rPr lang="en-IN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 Dr. Divya Agarwal</a:t>
            </a:r>
          </a:p>
          <a:p>
            <a:endParaRPr lang="en-IN" sz="27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7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7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D0315-99F6-D6DD-3716-30E56FE43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Google Shape;174;p2">
            <a:extLst>
              <a:ext uri="{FF2B5EF4-FFF2-40B4-BE49-F238E27FC236}">
                <a16:creationId xmlns:a16="http://schemas.microsoft.com/office/drawing/2014/main" id="{54A80C38-B6D4-B544-4008-E1A7CCFDFBB5}"/>
              </a:ext>
            </a:extLst>
          </p:cNvPr>
          <p:cNvSpPr txBox="1">
            <a:spLocks/>
          </p:cNvSpPr>
          <p:nvPr/>
        </p:nvSpPr>
        <p:spPr>
          <a:xfrm>
            <a:off x="264160" y="2784430"/>
            <a:ext cx="11663680" cy="845098"/>
          </a:xfrm>
          <a:prstGeom prst="rect">
            <a:avLst/>
          </a:prstGeom>
          <a:solidFill>
            <a:srgbClr val="EDEDED"/>
          </a:solidFill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 fontScale="3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1F3864"/>
              </a:buClr>
              <a:buSzPct val="100000"/>
            </a:pPr>
            <a:br>
              <a:rPr lang="en-IN" sz="53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IN" sz="54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  <a:t>Title: “</a:t>
            </a:r>
            <a:r>
              <a:rPr lang="en-IN" sz="5400" dirty="0"/>
              <a:t>Smart-ASHA: A Multi-Modal, Edge-AI Cardiopulmonary &amp; Biochemical Triage Framework</a:t>
            </a:r>
            <a:r>
              <a:rPr lang="en-IN" sz="54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  <a:t>”</a:t>
            </a:r>
            <a:endParaRPr lang="en-IN" sz="5400" dirty="0"/>
          </a:p>
          <a:p>
            <a:pPr>
              <a:buClr>
                <a:srgbClr val="1F3864"/>
              </a:buClr>
              <a:buSzPct val="100000"/>
              <a:buFont typeface="Times"/>
              <a:buNone/>
            </a:pPr>
            <a:br>
              <a:rPr lang="en-IN" sz="3100" b="1" dirty="0">
                <a:solidFill>
                  <a:srgbClr val="1F3864"/>
                </a:solidFill>
                <a:latin typeface="Times"/>
                <a:ea typeface="Times"/>
                <a:cs typeface="Times"/>
                <a:sym typeface="Times"/>
              </a:rPr>
            </a:br>
            <a:endParaRPr lang="en-IN" sz="3100" b="1" dirty="0">
              <a:solidFill>
                <a:srgbClr val="00206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FCE1-9A77-12F5-CE95-4FD09AFD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520" y="144485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/>
              <a:t>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3FB24-0BE8-6763-BB6B-288D627B0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93901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742547-1501-DDAE-CD8D-E010DBE5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18370-6B08-9202-E2FD-FD174AADC35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6100" y="1292325"/>
            <a:ext cx="10515599" cy="5395828"/>
          </a:xfrm>
        </p:spPr>
        <p:txBody>
          <a:bodyPr>
            <a:noAutofit/>
          </a:bodyPr>
          <a:lstStyle/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Mapped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628650" indent="-514350" algn="just">
              <a:buSzPct val="100000"/>
              <a:buAutoNum type="arabicPeriod"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pPr marL="114300" indent="0" algn="just">
              <a:buNone/>
            </a:pP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01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FCE1-9A77-12F5-CE95-4FD09AFD1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3FB24-0BE8-6763-BB6B-288D627B05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742547-1501-DDAE-CD8D-E010DBE5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18370-6B08-9202-E2FD-FD174AADC35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3706" y="1650442"/>
            <a:ext cx="6935486" cy="453699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IN" sz="2400" b="1" dirty="0"/>
              <a:t>:</a:t>
            </a:r>
            <a:r>
              <a:rPr lang="en-IN" sz="2000" dirty="0"/>
              <a:t> Smart-ASHA is an innovative medical triage framework utilizing an AI-powered "Tri-Corder" sleeve to enhance rural healthcare. </a:t>
            </a:r>
          </a:p>
          <a:p>
            <a:pPr marL="1143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r>
              <a:rPr lang="en-IN" sz="2400" b="1" dirty="0"/>
              <a:t>: </a:t>
            </a:r>
            <a:r>
              <a:rPr lang="en-IN" sz="2000" dirty="0"/>
              <a:t>It transforms a standard stethoscope into a sensing hub by combining high-performance edge processing with cloud integration. </a:t>
            </a:r>
          </a:p>
          <a:p>
            <a:pPr marL="114300" indent="0">
              <a:buNone/>
            </a:pPr>
            <a:r>
              <a:rPr lang="en-IN" sz="2000" dirty="0"/>
              <a:t>●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r>
              <a:rPr lang="en-IN" sz="2400" b="1" dirty="0"/>
              <a:t>: </a:t>
            </a:r>
          </a:p>
          <a:p>
            <a:pPr marL="114300" indent="0">
              <a:buNone/>
            </a:pPr>
            <a:r>
              <a:rPr lang="en-IN" sz="2000" dirty="0"/>
              <a:t>○ </a:t>
            </a:r>
            <a:r>
              <a:rPr lang="en-IN" sz="2000" b="1" dirty="0"/>
              <a:t>Real-time Edge Processing: </a:t>
            </a:r>
            <a:r>
              <a:rPr lang="en-IN" sz="2000" dirty="0"/>
              <a:t>Uses quantized </a:t>
            </a:r>
            <a:r>
              <a:rPr lang="en-IN" sz="2000" dirty="0" err="1"/>
              <a:t>TinyML</a:t>
            </a:r>
            <a:r>
              <a:rPr lang="en-IN" sz="2000" dirty="0"/>
              <a:t> on ESP32-S3 for low-latency diagnostics (e.g., arrhythmia detection). </a:t>
            </a:r>
          </a:p>
          <a:p>
            <a:pPr marL="114300" indent="0">
              <a:buNone/>
            </a:pPr>
            <a:r>
              <a:rPr lang="en-IN" sz="2000" dirty="0"/>
              <a:t>○ </a:t>
            </a:r>
            <a:r>
              <a:rPr lang="en-IN" sz="2000" b="1" dirty="0"/>
              <a:t>Offline Capability: </a:t>
            </a:r>
            <a:r>
              <a:rPr lang="en-IN" sz="2000" dirty="0"/>
              <a:t>Hardware-gated noise reduction and on-device logic allow for "Red/Green" triage even without internet. </a:t>
            </a:r>
          </a:p>
          <a:p>
            <a:pPr marL="114300" indent="0">
              <a:buNone/>
            </a:pPr>
            <a:r>
              <a:rPr lang="en-IN" sz="2000" dirty="0"/>
              <a:t>○ </a:t>
            </a:r>
            <a:r>
              <a:rPr lang="en-IN" sz="2000" b="1" dirty="0"/>
              <a:t>Cloud Integration: </a:t>
            </a:r>
            <a:r>
              <a:rPr lang="en-IN" sz="2000" dirty="0"/>
              <a:t>Offloads complex tasks like language translation and facilitates epidemiological data synchronization.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F2D8DF-6BCB-10E2-50FD-7C0737FAE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830" y="1805890"/>
            <a:ext cx="4623290" cy="4226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1701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828E-CFD4-7ED5-7585-12FF0101D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394F-3F37-EA39-AAC9-81FD77B37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0F91B-ED6A-0E5E-DA8F-5C32B9E8EB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5BE3B1-61C3-DFD1-81C9-584124A34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AA9FCB-7F81-5FCF-6CC0-EF35C58E380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9269" y="1416437"/>
            <a:ext cx="6768711" cy="4771003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Unaffordability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Specialised diagnostic tools (ECG, thermal imagers, etc.) are prohibitively expensive for rural PHCs, often costing over ₹2,20,000. </a:t>
            </a:r>
          </a:p>
          <a:p>
            <a:pPr marL="11430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"Noisy Clinic" Failure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digital stethoscopes fail in chaotic rural clinics (60-70dB ambient noise), rendering acoustic AI models useless.</a:t>
            </a:r>
          </a:p>
          <a:p>
            <a:pPr marL="11430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Silos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ASHA workers often cannot distinguish between symptoms that appear identical (e.g., Pneumonia vs. Heart Failure) or identify metabolic emergencies without invasive blood tests.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E3675-72AF-B05B-4B9A-B8DC0E5F8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980" y="2127848"/>
            <a:ext cx="5204752" cy="33700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152571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58AD-1228-9083-A022-A33558C3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FD11-ED8A-9A00-7476-E2BE1E94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23086"/>
          </a:xfrm>
        </p:spPr>
        <p:txBody>
          <a:bodyPr>
            <a:normAutofit/>
          </a:bodyPr>
          <a:lstStyle/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SDG  Mapped</a:t>
            </a:r>
            <a:endParaRPr lang="en-IN" sz="45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3D04E-5793-EB06-25EB-96AD482DC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03230"/>
            <a:ext cx="5157787" cy="110184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40000" lnSpcReduction="20000"/>
          </a:bodyPr>
          <a:lstStyle/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Promotes proactive, data-driven disease mapping and reduces mortality in resource-constrained settings. </a:t>
            </a:r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F24EF4-05E9-0211-A6E3-44C2607F032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82E1CB-B879-BC33-61A4-8CC2723E9DD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403230"/>
            <a:ext cx="5183188" cy="110184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40000" lnSpcReduction="20000"/>
          </a:bodyPr>
          <a:lstStyle/>
          <a:p>
            <a:r>
              <a:rPr lang="en-US" sz="4000" dirty="0"/>
              <a:t>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○ Bridges the gap in healthcare access by providing low-cost (~₹10,000), high-tech diagnostic tools to rural populations.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483D21-3AAF-B8C0-A81D-4D2612C617AC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37C479-ABA4-6BE0-7889-CBEE00DA3C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0F4EFB-0310-2F06-ED87-80769B355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0B28B9-355C-1965-4D94-664498D97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12" y="2502852"/>
            <a:ext cx="5157787" cy="3684588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2AE157-7BA2-2610-22D6-D743C35A47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023" y="2502851"/>
            <a:ext cx="5183187" cy="368458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9652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128D-A79B-8CDB-12FC-FFEF2B42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53A8-14EB-D7C1-B44C-68A75DEF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Literature Review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D52069-E01E-A02F-0F25-F5B3F30212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945EFE-7F4D-36C4-6A6E-B484BA75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A655B4-598F-8FA0-FE78-FCF6E91EC0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89930" y="1574222"/>
            <a:ext cx="11507489" cy="4613218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dirty="0"/>
              <a:t>●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Auscultation</a:t>
            </a:r>
            <a:r>
              <a:rPr lang="en-IN" sz="2400" dirty="0"/>
              <a:t>: Rocha et al. (2019) utilised CNNs for respiratory sounds, while </a:t>
            </a:r>
            <a:r>
              <a:rPr lang="en-IN" sz="2400" dirty="0" err="1"/>
              <a:t>Arjoune</a:t>
            </a:r>
            <a:r>
              <a:rPr lang="en-IN" sz="2400" dirty="0"/>
              <a:t> et al. (2023) highlighted noise challenges in digital stethoscopes. </a:t>
            </a:r>
          </a:p>
          <a:p>
            <a:pPr marL="114300" indent="0">
              <a:buNone/>
            </a:pPr>
            <a:r>
              <a:rPr lang="en-IN" sz="2400" dirty="0"/>
              <a:t>● </a:t>
            </a:r>
            <a:r>
              <a:rPr lang="en-IN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lang="en-IN" sz="2400" dirty="0"/>
              <a:t>: Dutta &amp; Bharali (2021) demonstrated the use of microcontrollers for real-time Edge AI. </a:t>
            </a:r>
          </a:p>
          <a:p>
            <a:pPr marL="114300" indent="0">
              <a:buNone/>
            </a:pPr>
            <a:r>
              <a:rPr lang="en-IN" sz="2400" dirty="0"/>
              <a:t>●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Multi-Modal Fusion</a:t>
            </a:r>
            <a:r>
              <a:rPr lang="en-IN" sz="2400" dirty="0"/>
              <a:t>: Majumder et al. (2017) proposed fusing ECG, lung acoustics, and SpO2 to overcome diagnostic silos. </a:t>
            </a:r>
          </a:p>
          <a:p>
            <a:pPr marL="114300" indent="0">
              <a:buNone/>
            </a:pPr>
            <a:r>
              <a:rPr lang="en-IN" sz="2400" dirty="0"/>
              <a:t>●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Screening</a:t>
            </a:r>
            <a:r>
              <a:rPr lang="en-IN" sz="2400" dirty="0"/>
              <a:t>: Sarkar et al. (2021) explored spectral analysis for needle-free haemoglobin estimation. </a:t>
            </a:r>
          </a:p>
          <a:p>
            <a:pPr marL="114300" indent="0">
              <a:buNone/>
            </a:pPr>
            <a:r>
              <a:rPr lang="en-IN" sz="2400" dirty="0"/>
              <a:t>●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Piezoelectric Sensing</a:t>
            </a:r>
            <a:r>
              <a:rPr lang="en-IN" sz="2400" dirty="0"/>
              <a:t>: Sun et al. (2020) used piezoelectric film sensors to capture chest vibrations, bypassing airborne noise. </a:t>
            </a:r>
            <a:r>
              <a:rPr lang="en-US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382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AE928-0ECA-7E26-C638-299F459A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BEA4-2917-4DA1-1E93-674CCF5CF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Technical Stack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7422EF-D295-1932-CFDC-569FDAEC0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5C09CD-D0BC-E344-DCFA-6EC3FE0BF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AF618B-0A89-D743-97BE-B37F793338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9812" y="1390846"/>
            <a:ext cx="7758467" cy="504695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IN" sz="2000" dirty="0"/>
              <a:t>:</a:t>
            </a:r>
          </a:p>
          <a:p>
            <a:pPr marL="114300" indent="0">
              <a:buNone/>
            </a:pPr>
            <a:r>
              <a:rPr lang="en-IN" sz="2000" dirty="0"/>
              <a:t>● Microcontroller: ESP32-S3 (AI &amp; Low Power).</a:t>
            </a:r>
          </a:p>
          <a:p>
            <a:pPr marL="114300" indent="0">
              <a:buNone/>
            </a:pPr>
            <a:r>
              <a:rPr lang="en-IN" sz="2000" dirty="0"/>
              <a:t>● Sensors: </a:t>
            </a:r>
          </a:p>
          <a:p>
            <a:pPr marL="114300" indent="0">
              <a:buNone/>
            </a:pPr>
            <a:r>
              <a:rPr lang="en-IN" sz="2000" dirty="0"/>
              <a:t>○ LDT1-028K (Piezoelectric Vibration Sensor). </a:t>
            </a:r>
          </a:p>
          <a:p>
            <a:pPr marL="114300" indent="0">
              <a:buNone/>
            </a:pPr>
            <a:r>
              <a:rPr lang="en-IN" sz="2000" dirty="0"/>
              <a:t>○ MAX30003/AD8232 (ECG) &amp; MAX30102 (SpO2/PPG). </a:t>
            </a:r>
          </a:p>
          <a:p>
            <a:pPr marL="114300" indent="0">
              <a:buNone/>
            </a:pPr>
            <a:r>
              <a:rPr lang="en-IN" sz="2000" dirty="0"/>
              <a:t>○ MLX90640/AMG8833 (Thermal Grid) &amp; MPU6050 (IMU). </a:t>
            </a:r>
          </a:p>
          <a:p>
            <a:pPr marL="114300" indent="0">
              <a:buNone/>
            </a:pPr>
            <a:r>
              <a:rPr lang="en-IN" sz="2000" dirty="0"/>
              <a:t>○ AS7262/AS7343 (Spectral Analysis) &amp; MQ-135 (VOCs). </a:t>
            </a:r>
          </a:p>
          <a:p>
            <a:pPr marL="114300" indent="0">
              <a:buNone/>
            </a:pPr>
            <a:r>
              <a:rPr lang="en-IN" sz="2000" dirty="0"/>
              <a:t>● Connectivity: 7Semi 4G Modem &amp; GPS. </a:t>
            </a:r>
          </a:p>
          <a:p>
            <a:pPr marL="11430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IN" sz="2000" dirty="0"/>
              <a:t>: </a:t>
            </a:r>
          </a:p>
          <a:p>
            <a:pPr marL="114300" indent="0">
              <a:buNone/>
            </a:pPr>
            <a:r>
              <a:rPr lang="en-IN" sz="2000" dirty="0"/>
              <a:t>● Frameworks: TensorFlow Lite (Edge AI Inference), Arduino IDE 2.3+. </a:t>
            </a:r>
          </a:p>
          <a:p>
            <a:pPr marL="114300" indent="0">
              <a:buNone/>
            </a:pPr>
            <a:r>
              <a:rPr lang="en-IN" sz="2000" dirty="0"/>
              <a:t>● DSP: STFT (Spectrograms), Bandpass Filtering (0.5Hz-40Hz). </a:t>
            </a:r>
          </a:p>
          <a:p>
            <a:pPr marL="114300" indent="0">
              <a:buNone/>
            </a:pPr>
            <a:r>
              <a:rPr lang="en-IN" sz="2000" dirty="0"/>
              <a:t>● Models: Quantized CNN (Lung Sounds), 1D-CNN (Cardiac Rhythm).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2ABEA-BB42-FE35-6446-E2AC20148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325" y="1486569"/>
            <a:ext cx="5458795" cy="34717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89990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70E6-1114-BEEB-2CF9-73AD9F6E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4EC9-1BD6-EAAB-BD80-8C0902E5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Timeline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671A3C-E6FA-7570-E396-EB1AE04032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19C0CF-F4F6-8173-F8D4-9D6B2380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29260B-235E-8FAC-746F-2D3BA02A1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321" y="1918130"/>
            <a:ext cx="5664678" cy="363728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570C1F-A025-A665-100D-41A50F23196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" y="1574222"/>
            <a:ext cx="7194429" cy="4786321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000" b="1" dirty="0"/>
              <a:t> Phase 1: Environment &amp; Connectivity (16 </a:t>
            </a:r>
            <a:r>
              <a:rPr lang="en-IN" sz="2000" b="1" dirty="0" err="1"/>
              <a:t>jan</a:t>
            </a:r>
            <a:r>
              <a:rPr lang="en-IN" sz="2000" b="1" dirty="0"/>
              <a:t> – 2 </a:t>
            </a:r>
            <a:r>
              <a:rPr lang="en-IN" sz="2000" b="1" dirty="0" err="1"/>
              <a:t>feb</a:t>
            </a:r>
            <a:r>
              <a:rPr lang="en-IN" sz="2000" b="1" dirty="0"/>
              <a:t>)</a:t>
            </a:r>
          </a:p>
          <a:p>
            <a:pPr marL="114300" indent="0">
              <a:buNone/>
            </a:pPr>
            <a:r>
              <a:rPr lang="en-IN" sz="1800" dirty="0"/>
              <a:t> ○ Set up Arduino IDE, libraries (</a:t>
            </a:r>
            <a:r>
              <a:rPr lang="en-IN" sz="1800" dirty="0" err="1"/>
              <a:t>Adafruit_GFX</a:t>
            </a:r>
            <a:r>
              <a:rPr lang="en-IN" sz="1800" dirty="0"/>
              <a:t>, </a:t>
            </a:r>
            <a:r>
              <a:rPr lang="en-IN" sz="1800" dirty="0" err="1"/>
              <a:t>TinyGSM</a:t>
            </a:r>
            <a:r>
              <a:rPr lang="en-IN" sz="1800" dirty="0"/>
              <a:t>), and 4G/GPS modem initialisation. </a:t>
            </a:r>
          </a:p>
          <a:p>
            <a:pPr marL="11430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Phase 2: Hardware Hub &amp; Analogue Processing (3 </a:t>
            </a:r>
            <a:r>
              <a:rPr lang="en-IN" sz="2000" b="1" dirty="0" err="1"/>
              <a:t>feb</a:t>
            </a:r>
            <a:r>
              <a:rPr lang="en-IN" sz="2000" b="1" dirty="0"/>
              <a:t> – 2 march)</a:t>
            </a:r>
          </a:p>
          <a:p>
            <a:pPr marL="114300" indent="0">
              <a:buNone/>
            </a:pPr>
            <a:r>
              <a:rPr lang="en-IN" sz="2000" dirty="0"/>
              <a:t> </a:t>
            </a:r>
            <a:r>
              <a:rPr lang="en-IN" sz="1800" dirty="0"/>
              <a:t>○ Integrate ECG/GSR "Front-End", implement I2C Multiplexer (TCA9548A) for sensor hub, and integrate metabolic/acoustic sensors.</a:t>
            </a:r>
          </a:p>
          <a:p>
            <a:pPr marL="11430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Phase 3: Intelligence &amp; Cloud Alerts (3 march – 10April)</a:t>
            </a:r>
          </a:p>
          <a:p>
            <a:pPr marL="114300" indent="0">
              <a:buNone/>
            </a:pPr>
            <a:r>
              <a:rPr lang="en-IN" sz="1800" dirty="0"/>
              <a:t>○ Train </a:t>
            </a:r>
            <a:r>
              <a:rPr lang="en-IN" sz="1800" dirty="0" err="1"/>
              <a:t>TinyML</a:t>
            </a:r>
            <a:r>
              <a:rPr lang="en-IN" sz="1800" dirty="0"/>
              <a:t> 1D-CNN using Edge Impulse, implement heuristic fusion logic for triage, and set up 4G emergency uplink (MQTT/HTTP). </a:t>
            </a:r>
          </a:p>
          <a:p>
            <a:pPr marL="114300" indent="0">
              <a:buNone/>
            </a:pPr>
            <a:r>
              <a:rPr lang="en-IN" sz="2000" dirty="0"/>
              <a:t> </a:t>
            </a:r>
            <a:r>
              <a:rPr lang="en-IN" sz="2000" b="1" dirty="0"/>
              <a:t>Phase 4: Industrial Finishing (10 April – 25 April)</a:t>
            </a:r>
          </a:p>
          <a:p>
            <a:pPr marL="114300" indent="0">
              <a:buNone/>
            </a:pPr>
            <a:r>
              <a:rPr lang="en-IN" sz="1800" dirty="0"/>
              <a:t>○ "Smart Sleeve" assembly (3D printed adapter), stress testing, calibration, and final demo recording.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301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ACDE-57B4-5EC3-0C76-9591D5B1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DA17-BCB8-4A37-F5F1-9EBB16C7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500" b="1" dirty="0"/>
              <a:t>8. Work Done Till Date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59F4A4-82CE-0784-BE8B-EA26A39CB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F30C97-397D-36B5-ABEA-C6EDA0AB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23BC7C-7B96-B842-CA57-5950371CC89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2165" y="1237407"/>
            <a:ext cx="6279880" cy="520038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Sensor Integration </a:t>
            </a:r>
          </a:p>
          <a:p>
            <a:r>
              <a:rPr lang="en-IN" sz="1800" b="1" dirty="0"/>
              <a:t>ECG (AD8232):</a:t>
            </a:r>
            <a:r>
              <a:rPr lang="en-IN" sz="1800" dirty="0"/>
              <a:t> Bio-potential capture &amp; heart rate validation</a:t>
            </a:r>
          </a:p>
          <a:p>
            <a:r>
              <a:rPr lang="en-IN" sz="1800" b="1" dirty="0"/>
              <a:t>GSR:</a:t>
            </a:r>
            <a:r>
              <a:rPr lang="en-IN" sz="1800" dirty="0"/>
              <a:t> Baseline Electrodermal Activity established</a:t>
            </a:r>
          </a:p>
          <a:p>
            <a:r>
              <a:rPr lang="en-IN" sz="1800" dirty="0"/>
              <a:t>Real-time signal visualization &amp; stable data transmission achieved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Expansion (Procured)</a:t>
            </a:r>
          </a:p>
          <a:p>
            <a:r>
              <a:rPr lang="en-IN" sz="1800" b="1" dirty="0"/>
              <a:t>CD74HC4067 MUX:</a:t>
            </a:r>
            <a:r>
              <a:rPr lang="en-IN" sz="1800" dirty="0"/>
              <a:t> Scalable 16+ sensor architecture</a:t>
            </a:r>
          </a:p>
          <a:p>
            <a:r>
              <a:rPr lang="en-IN" sz="1800" b="1" dirty="0"/>
              <a:t>AMG8833 : Infrared Array Sensor :</a:t>
            </a:r>
            <a:r>
              <a:rPr lang="en-IN" sz="1800" dirty="0"/>
              <a:t> Non-contact thermal fever screening</a:t>
            </a:r>
          </a:p>
          <a:p>
            <a:r>
              <a:rPr lang="en-IN" sz="1800" b="1" dirty="0"/>
              <a:t>Piezo Sensors:</a:t>
            </a:r>
            <a:r>
              <a:rPr lang="en-IN" sz="1800" dirty="0"/>
              <a:t> Digital stethoscope (heart &amp; lung sound capture)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Phase</a:t>
            </a:r>
          </a:p>
          <a:p>
            <a:r>
              <a:rPr lang="en-IN" sz="1800" dirty="0"/>
              <a:t>Dataset development for </a:t>
            </a:r>
            <a:r>
              <a:rPr lang="en-IN" sz="1800" dirty="0" err="1"/>
              <a:t>TinyML</a:t>
            </a:r>
            <a:endParaRPr lang="en-IN" sz="1800" dirty="0"/>
          </a:p>
          <a:p>
            <a:r>
              <a:rPr lang="en-IN" sz="1800" dirty="0"/>
              <a:t>Mathematical modelling of multi-sensor fusion</a:t>
            </a:r>
          </a:p>
          <a:p>
            <a:r>
              <a:rPr lang="en-IN" sz="1800" dirty="0"/>
              <a:t>Edge-AI health inference logic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B3ECDF-D68E-F8A3-EB2D-84BAD935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845" y="4553021"/>
            <a:ext cx="2998675" cy="17742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55DE52-CD49-E9E9-9BC4-FB1783C881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546" y="4553021"/>
            <a:ext cx="2998675" cy="1774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F3F57E-F0E2-D0F4-A2FF-C36E920967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617" y="1319247"/>
            <a:ext cx="5436218" cy="32337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06861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5DB2-7835-AF18-1203-3A11D5B5A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FEEB-B4E7-E4EB-FEFB-45D4674C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Expected Outcome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DE4B7-A094-9D00-3D45-5AC5255082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CA6F89-6C73-CA81-3AF2-54FA7931E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EA0606-9A86-D33D-98BD-09A30E33A1D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758" y="1679275"/>
            <a:ext cx="6929888" cy="4353564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1430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Cost Efficiency: A diagnostic device built for ~₹10,000, significantly cheaper than the &gt;₹2,20,000 industry standard.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Usability: A "Zero-Literacy Interface" using Red/Green LEDs to indicate patient status, removing the burden of complex interpretation.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● Functional Prototype: A field-ready device capable of non-invasive cardiac, respiratory, and metabolic screening with 4G cloud connectivity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07CC6B-697F-D31C-0EAB-0D3F318AC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915" y="1914254"/>
            <a:ext cx="4997570" cy="336511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01263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34BC5-9654-DDE6-0979-AD250EA6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E310-CBD3-5996-2087-71233FE6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Conclusion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C6F852-5A5A-82D6-0A8F-C331A20151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4D00D-7873-9229-88EB-903A474A9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E5022D-6898-8D7C-593A-2DD04DEABB5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3165" y="1574223"/>
            <a:ext cx="11915955" cy="3802909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Tech: The project successfully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synthesises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TinyML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piezoelectric sensing, and spectral analysis into a single wearable "sleeve". 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Impact: It empowers ASHA workers with objective, multi-modal data, enabling instant triage and reducing referral latency. </a:t>
            </a:r>
          </a:p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Shift in Care: Smart-ASHA shifts rural healthcare from reactive symptom management to proactive, data-driven disease mapping.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1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EFB69-C2BE-2AD1-F1DB-1D07F47A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37C4-9A09-4E0D-ABCE-5893C147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59" y="161006"/>
            <a:ext cx="10515600" cy="1325563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References</a:t>
            </a:r>
            <a:endParaRPr lang="en-IN" sz="4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2614F-1F91-BE0D-7B03-EF7E344532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36" t="16197" r="7963" b="26713"/>
          <a:stretch/>
        </p:blipFill>
        <p:spPr>
          <a:xfrm>
            <a:off x="9113520" y="73353"/>
            <a:ext cx="2895600" cy="1158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112E14-5174-C31E-E89E-A76EF5972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222" y="6187440"/>
            <a:ext cx="3426778" cy="50071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677F18-C5C8-46E7-B02D-848751502A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7" y="1395466"/>
            <a:ext cx="10515599" cy="5046950"/>
          </a:xfrm>
        </p:spPr>
        <p:txBody>
          <a:bodyPr>
            <a:noAutofit/>
          </a:bodyPr>
          <a:lstStyle/>
          <a:p>
            <a:pPr marL="571500" indent="-457200">
              <a:buAutoNum type="arabicPeriod"/>
            </a:pPr>
            <a:r>
              <a:rPr lang="en-IN" sz="2000" dirty="0"/>
              <a:t>Rocha et al., "Open Access Database for Respiratory Sound Classification Algorithms," Physiological Measurement, 2019.</a:t>
            </a:r>
          </a:p>
          <a:p>
            <a:pPr marL="571500" indent="-457200">
              <a:buAutoNum type="arabicPeriod"/>
            </a:pPr>
            <a:r>
              <a:rPr lang="en-IN" sz="2000" dirty="0"/>
              <a:t>  </a:t>
            </a:r>
            <a:r>
              <a:rPr lang="en-IN" sz="2000" dirty="0" err="1"/>
              <a:t>Arjoune</a:t>
            </a:r>
            <a:r>
              <a:rPr lang="en-IN" sz="2000" dirty="0"/>
              <a:t> et al., "Technical Characterization of Digital Stethoscopes," IEEE Access, 2023.</a:t>
            </a:r>
          </a:p>
          <a:p>
            <a:pPr marL="571500" indent="-457200">
              <a:buAutoNum type="arabicPeriod"/>
            </a:pPr>
            <a:r>
              <a:rPr lang="en-IN" sz="2000" dirty="0"/>
              <a:t>  Dutta and Bharali, "</a:t>
            </a:r>
            <a:r>
              <a:rPr lang="en-IN" sz="2000" dirty="0" err="1"/>
              <a:t>TinyML</a:t>
            </a:r>
            <a:r>
              <a:rPr lang="en-IN" sz="2000" dirty="0"/>
              <a:t>-Based Edge Computing for IoT Healthcare Applications," IEEE Access, 2021. </a:t>
            </a:r>
          </a:p>
          <a:p>
            <a:pPr marL="571500" indent="-457200">
              <a:buAutoNum type="arabicPeriod"/>
            </a:pPr>
            <a:r>
              <a:rPr lang="en-IN" sz="2000" dirty="0"/>
              <a:t> Warden and </a:t>
            </a:r>
            <a:r>
              <a:rPr lang="en-IN" sz="2000" dirty="0" err="1"/>
              <a:t>Situnayake</a:t>
            </a:r>
            <a:r>
              <a:rPr lang="en-IN" sz="2000" dirty="0"/>
              <a:t>, </a:t>
            </a:r>
            <a:r>
              <a:rPr lang="en-IN" sz="2000" dirty="0" err="1"/>
              <a:t>TinyML</a:t>
            </a:r>
            <a:r>
              <a:rPr lang="en-IN" sz="2000" dirty="0"/>
              <a:t>: Machine Learning with TensorFlow Lite..., O'Reilly Media, 2019. </a:t>
            </a:r>
          </a:p>
          <a:p>
            <a:pPr marL="571500" indent="-457200">
              <a:buAutoNum type="arabicPeriod"/>
            </a:pPr>
            <a:r>
              <a:rPr lang="en-IN" sz="2000" dirty="0"/>
              <a:t> Majumder et al., "Wearable Sensors for Remote Health Monitoring," Sensors, 2017. </a:t>
            </a:r>
          </a:p>
          <a:p>
            <a:pPr marL="571500" indent="-457200">
              <a:buAutoNum type="arabicPeriod"/>
            </a:pPr>
            <a:r>
              <a:rPr lang="en-IN" sz="2000" dirty="0"/>
              <a:t> Sarkar et al., "Non-invasive </a:t>
            </a:r>
            <a:r>
              <a:rPr lang="en-IN" sz="2000" dirty="0" err="1"/>
              <a:t>Hemoglobin</a:t>
            </a:r>
            <a:r>
              <a:rPr lang="en-IN" sz="2000" dirty="0"/>
              <a:t> Estimation...," Biomedical Signal Processing and Control, 2021. </a:t>
            </a:r>
          </a:p>
          <a:p>
            <a:pPr marL="571500" indent="-457200">
              <a:buAutoNum type="arabicPeriod"/>
            </a:pPr>
            <a:r>
              <a:rPr lang="en-IN" sz="2000" dirty="0"/>
              <a:t> Sun et al., "Simultaneous piezoelectric </a:t>
            </a:r>
            <a:r>
              <a:rPr lang="en-IN" sz="2000" dirty="0" err="1"/>
              <a:t>noninvasive</a:t>
            </a:r>
            <a:r>
              <a:rPr lang="en-IN" sz="2000" dirty="0"/>
              <a:t> detection...," Scientific Reports, 2020.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35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1064</Words>
  <Application>Microsoft Office PowerPoint</Application>
  <PresentationFormat>Widescreen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Times</vt:lpstr>
      <vt:lpstr>Times New Roman</vt:lpstr>
      <vt:lpstr>Wingdings</vt:lpstr>
      <vt:lpstr>Office Theme</vt:lpstr>
      <vt:lpstr>  Practicum Presentation   IIoT 260 </vt:lpstr>
      <vt:lpstr>Contents</vt:lpstr>
      <vt:lpstr>1. Introduction</vt:lpstr>
      <vt:lpstr>2. Problem Statement</vt:lpstr>
      <vt:lpstr>3. SDG  Mapped</vt:lpstr>
      <vt:lpstr>4. Literature Review</vt:lpstr>
      <vt:lpstr>6. Technical Stack</vt:lpstr>
      <vt:lpstr>7. Timeline</vt:lpstr>
      <vt:lpstr>8. Work Done Till Date</vt:lpstr>
      <vt:lpstr>9. Expected Outcome</vt:lpstr>
      <vt:lpstr>9. Conclusion</vt:lpstr>
      <vt:lpstr>10.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Vansh Sharma</cp:lastModifiedBy>
  <cp:revision>2</cp:revision>
  <dcterms:modified xsi:type="dcterms:W3CDTF">2026-02-26T09:41:41Z</dcterms:modified>
</cp:coreProperties>
</file>